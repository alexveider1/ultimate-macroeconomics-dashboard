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307" r:id="rId2"/>
    <p:sldId id="308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309" r:id="rId12"/>
    <p:sldId id="296" r:id="rId13"/>
    <p:sldId id="297" r:id="rId14"/>
    <p:sldId id="298" r:id="rId15"/>
    <p:sldId id="299" r:id="rId16"/>
    <p:sldId id="317" r:id="rId17"/>
    <p:sldId id="300" r:id="rId18"/>
    <p:sldId id="301" r:id="rId19"/>
    <p:sldId id="302" r:id="rId20"/>
    <p:sldId id="303" r:id="rId21"/>
    <p:sldId id="304" r:id="rId22"/>
    <p:sldId id="305" r:id="rId23"/>
    <p:sldId id="310" r:id="rId24"/>
    <p:sldId id="311" r:id="rId25"/>
    <p:sldId id="312" r:id="rId26"/>
    <p:sldId id="313" r:id="rId27"/>
    <p:sldId id="314" r:id="rId28"/>
    <p:sldId id="315" r:id="rId29"/>
    <p:sldId id="316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35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C336A-DB26-4AE3-9226-D01EE7E92A80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5F75DD-A141-4859-9D1F-A4FAE7D2DD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4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5F75DD-A141-4859-9D1F-A4FAE7D2DD8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058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D243F-DDA5-C91C-92A0-0DE621B389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3BF927-61C8-AFC4-5802-3F3D25661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69A04A-B687-6439-2F9A-0A48D058B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C6FC7-169B-44C5-9F4C-087EA3673012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14262-A01D-3EB1-7B6E-27EF2136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10670-2F23-3FFC-7001-5EE63DF85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F81-7E6E-47BE-8B58-466C3EBDC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1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F5FD2-4578-67D1-FCB6-8088659E8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A518-8D5F-997F-6E25-9B850FAD3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E09BD-10AB-0E18-665F-66CA0D2FA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C6FC7-169B-44C5-9F4C-087EA3673012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64480-3456-5078-D1E7-2A689A018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F0209-59CA-9FDA-675B-2EC674F3B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F81-7E6E-47BE-8B58-466C3EBDC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60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C3EE-080D-559D-2E79-40F10E9BB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53148-69EF-714C-88F3-8FF8AE5DE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AECF8-F4CF-59FD-C06B-55CF0446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C6FC7-169B-44C5-9F4C-087EA3673012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1463F-9BC0-06AA-3E42-1A9826941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BB009-625F-BB24-76D2-FF6B5902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F81-7E6E-47BE-8B58-466C3EBDC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1398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A0EF-615C-F7EF-E615-46CDDD511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E949E-BA1B-7DE2-DCAB-E966F802B1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E261D-DAA1-899C-5A6C-DC17AD2E1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96D67-F9EE-7AF2-D535-BBE3A6AF1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C6FC7-169B-44C5-9F4C-087EA3673012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C565C-89B1-ACBE-DDDD-4824BE3B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21927-6382-E476-34C6-B4F22CAB5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F81-7E6E-47BE-8B58-466C3EBDC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450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706AC-1956-6160-0561-0889F5021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FBF6C-BA70-A26E-2BB7-8CD179291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218B3D-101C-49A6-72A5-7E2AC8D196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98F8F4-7737-39FB-808D-DC19508C81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1EE11F-D5D3-2218-22AD-DA6D36DDAB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15114B-A590-B10D-CE00-AF143FE08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C6FC7-169B-44C5-9F4C-087EA3673012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E43F0F-C55F-F044-4721-F542D6A3F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F816D9-0130-23AA-BFCE-B2F6D8F8C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F81-7E6E-47BE-8B58-466C3EBDC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433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B4458-C024-ED9E-6655-10E261367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385CE0-DB4F-C3ED-8A37-7E3927EB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C6FC7-169B-44C5-9F4C-087EA3673012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7754E2-9CFB-D035-3D6D-DA7908B23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49E4A-41E8-FEA9-0993-4581FBE6F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F81-7E6E-47BE-8B58-466C3EBDC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35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22FDCA-A2AA-FF74-F3B6-ADF1BEC87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C6FC7-169B-44C5-9F4C-087EA3673012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C7107C-065F-620C-57B9-CD3E59ECC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C8D1A-553D-E310-6D8E-FF692A52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F81-7E6E-47BE-8B58-466C3EBDC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31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15A32-16C8-66B4-2549-132FDCF96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F59F7-33B7-EFDF-F349-7B8E7EE0D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CD84D6-1806-28B7-C178-4B8D9E6C2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33BCF-0A58-BAA9-A28C-76F8AD99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C6FC7-169B-44C5-9F4C-087EA3673012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0C98D-64DD-55D2-7928-2E2E8630E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5ADBB-A806-2CED-C8BB-459B964F5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F81-7E6E-47BE-8B58-466C3EBDC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1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31F48-B471-28CA-1E22-A93DDEEDD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1A218F-715B-860E-3D93-1E01DCA09E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D8D037-DE97-1F28-84AC-49F2836886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ED666C-B382-907D-ADE2-76B3923D2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C6FC7-169B-44C5-9F4C-087EA3673012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04D7D-86FB-1D5C-7B95-3DF59EA8D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63CCBE-38BF-D539-A03D-623416305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F81-7E6E-47BE-8B58-466C3EBDC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838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D128B-BAB9-301E-3EF9-A343472A8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9010C8-54E3-D3B8-8CE9-6C52E620E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3B6ED-FCBD-A314-7274-D2E5B3831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C6FC7-169B-44C5-9F4C-087EA3673012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2ACCC-CBA1-FE66-416F-67529C8A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BC8F7-9FA7-AEF1-8A81-33FB2CE91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F81-7E6E-47BE-8B58-466C3EBDC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05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1AEDE9-3856-23A6-BD17-AD56682178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4E718-4755-5B66-1D37-AED83B43B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998EF-D61B-10E4-7F3B-4EA1BF35E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C6FC7-169B-44C5-9F4C-087EA3673012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5FFD5-9026-D706-8405-8E67BAF09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F8136-D243-CF3F-208C-A2DFAAB7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B20F81-7E6E-47BE-8B58-466C3EBDCC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1672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A1F3D"/>
            </a:gs>
            <a:gs pos="100000">
              <a:srgbClr val="0E2A4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051F69-C95F-269E-F58B-8C8D174AD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FD3C30-0D45-F724-4174-790458A7D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D7A50-C63A-8CB3-4318-36FC138FF2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9C6FC7-169B-44C5-9F4C-087EA3673012}" type="datetimeFigureOut">
              <a:rPr lang="en-US" smtClean="0"/>
              <a:t>12-Jul-26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098D6-1986-19A7-1A41-F55DB4B368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4F5C8-AD23-2B79-7D4E-C2E1481FE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20F81-7E6E-47BE-8B58-466C3EBDCC73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DecoTriangle"/>
          <p:cNvSpPr/>
          <p:nvPr userDrawn="1"/>
        </p:nvSpPr>
        <p:spPr>
          <a:xfrm>
            <a:off x="10515600" y="0"/>
            <a:ext cx="1676400" cy="1676400"/>
          </a:xfrm>
          <a:prstGeom prst="rtTriangle">
            <a:avLst/>
          </a:prstGeom>
          <a:solidFill>
            <a:srgbClr val="22D3EE">
              <a:alpha val="14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DecoTriangle2"/>
          <p:cNvSpPr/>
          <p:nvPr userDrawn="1"/>
        </p:nvSpPr>
        <p:spPr>
          <a:xfrm rot="10800000">
            <a:off x="0" y="5994400"/>
            <a:ext cx="1066800" cy="863600"/>
          </a:xfrm>
          <a:prstGeom prst="rtTriangle">
            <a:avLst/>
          </a:prstGeom>
          <a:solidFill>
            <a:srgbClr val="60A5FA">
              <a:alpha val="12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2" name="AccentBar"/>
          <p:cNvSpPr/>
          <p:nvPr userDrawn="1"/>
        </p:nvSpPr>
        <p:spPr>
          <a:xfrm>
            <a:off x="838200" y="1066800"/>
            <a:ext cx="685800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EAF4F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EAF4F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EAF4F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AF4F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AF4F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AF4FB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AF4FB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AF4FB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EAF4FB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edium.economist.com/mistakes-weve-drawn-a-few-8cdd8a42d368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jp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AAC81-B67E-04C4-D6CE-F6907CAE8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905000"/>
            <a:ext cx="10668000" cy="2032000"/>
          </a:xfrm>
        </p:spPr>
        <p:txBody>
          <a:bodyPr>
            <a:normAutofit fontScale="90000"/>
          </a:bodyPr>
          <a:lstStyle/>
          <a:p>
            <a:pPr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/>
              </a:rPr>
              <a:t>Ultimate Macroeconomics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146426-8D9D-05F6-2D2C-1C8359ED0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2000"/>
            <a:ext cx="10668000" cy="1016000"/>
          </a:xfrm>
        </p:spPr>
        <p:txBody>
          <a:bodyPr/>
          <a:lstStyle/>
          <a:p>
            <a:pPr algn="ctr">
              <a:buNone/>
            </a:pPr>
            <a:r>
              <a:rPr lang="en-US" sz="2400" dirty="0">
                <a:solidFill>
                  <a:srgbClr val="EAF4FB"/>
                </a:solidFill>
                <a:latin typeface="Georgia"/>
                <a:ea typeface="Georgia"/>
              </a:rPr>
              <a:t>An AI-powered research platform for modern economic analysis</a:t>
            </a:r>
          </a:p>
        </p:txBody>
      </p:sp>
      <p:sp>
        <p:nvSpPr>
          <p:cNvPr id="500" name="TitleRule"/>
          <p:cNvSpPr/>
          <p:nvPr/>
        </p:nvSpPr>
        <p:spPr>
          <a:xfrm>
            <a:off x="5461000" y="4216400"/>
            <a:ext cx="1270000" cy="508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64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4DC9D-9B68-AD01-67BC-E15B2B16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1016000"/>
          </a:xfrm>
        </p:spPr>
        <p:txBody>
          <a:bodyPr/>
          <a:lstStyle/>
          <a:p>
            <a:pPr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964B7-76E7-026D-DE77-09D41463C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095500"/>
            <a:ext cx="50800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/>
              </a:rPr>
              <a:t>01  </a:t>
            </a:r>
            <a:r>
              <a:rPr lang="en-US" sz="2200" dirty="0">
                <a:solidFill>
                  <a:srgbClr val="EAF4FB"/>
                </a:solidFill>
                <a:latin typeface="Calibri"/>
              </a:rPr>
              <a:t>Goal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/>
              </a:rPr>
              <a:t>02  </a:t>
            </a:r>
            <a:r>
              <a:rPr lang="en-US" sz="2200" dirty="0">
                <a:solidFill>
                  <a:srgbClr val="EAF4FB"/>
                </a:solidFill>
                <a:latin typeface="Calibri"/>
              </a:rPr>
              <a:t>Target Audience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/>
              </a:rPr>
              <a:t>03  </a:t>
            </a:r>
            <a:r>
              <a:rPr lang="en-US" sz="2200" dirty="0">
                <a:solidFill>
                  <a:srgbClr val="EAF4FB"/>
                </a:solidFill>
                <a:latin typeface="Calibri"/>
              </a:rPr>
              <a:t>Data Sources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/>
              </a:rPr>
              <a:t>04  </a:t>
            </a:r>
            <a:r>
              <a:rPr lang="en-US" sz="2200" dirty="0">
                <a:solidFill>
                  <a:srgbClr val="EAF4FB"/>
                </a:solidFill>
                <a:latin typeface="Calibri"/>
              </a:rPr>
              <a:t>Technical Solutions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/>
              </a:rPr>
              <a:t>05  </a:t>
            </a:r>
            <a:r>
              <a:rPr lang="en-US" sz="2200" dirty="0">
                <a:solidFill>
                  <a:srgbClr val="EAF4FB"/>
                </a:solidFill>
                <a:latin typeface="Calibri"/>
              </a:rPr>
              <a:t>Architecture</a:t>
            </a:r>
          </a:p>
        </p:txBody>
      </p:sp>
      <p:sp>
        <p:nvSpPr>
          <p:cNvPr id="600" name="AgendaCol2"/>
          <p:cNvSpPr txBox="1"/>
          <p:nvPr/>
        </p:nvSpPr>
        <p:spPr>
          <a:xfrm>
            <a:off x="6350000" y="2095500"/>
            <a:ext cx="5080000" cy="457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/>
              </a:rPr>
              <a:t>06  </a:t>
            </a:r>
            <a:r>
              <a:rPr lang="en-US" sz="2200" dirty="0">
                <a:solidFill>
                  <a:srgbClr val="EAF4FB"/>
                </a:solidFill>
                <a:latin typeface="Calibri"/>
              </a:rPr>
              <a:t>Core Functionality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/>
              </a:rPr>
              <a:t>07  </a:t>
            </a:r>
            <a:r>
              <a:rPr lang="en-US" sz="2200" dirty="0">
                <a:solidFill>
                  <a:srgbClr val="EAF4FB"/>
                </a:solidFill>
                <a:latin typeface="Calibri"/>
              </a:rPr>
              <a:t>Advantages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/>
              </a:rPr>
              <a:t>08  </a:t>
            </a:r>
            <a:r>
              <a:rPr lang="en-US" sz="2200" dirty="0">
                <a:solidFill>
                  <a:srgbClr val="EAF4FB"/>
                </a:solidFill>
                <a:latin typeface="Calibri"/>
              </a:rPr>
              <a:t>Limitations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/>
              </a:rPr>
              <a:t>09  </a:t>
            </a:r>
            <a:r>
              <a:rPr lang="en-US" sz="2200" dirty="0">
                <a:solidFill>
                  <a:srgbClr val="EAF4FB"/>
                </a:solidFill>
                <a:latin typeface="Calibri"/>
              </a:rPr>
              <a:t>Future Development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/>
              </a:rPr>
              <a:t>10  </a:t>
            </a:r>
            <a:r>
              <a:rPr lang="en-US" sz="2200" dirty="0">
                <a:solidFill>
                  <a:srgbClr val="EAF4FB"/>
                </a:solidFill>
                <a:latin typeface="Calibri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416786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3A32-2372-BE36-5C99-6E42A397D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53414F-D6BB-E985-7A47-B14EBFD23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2794000"/>
            <a:ext cx="3334931" cy="254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14C3784-B62F-1E78-71EE-E9F8872D5DEC}"/>
              </a:ext>
            </a:extLst>
          </p:cNvPr>
          <p:cNvSpPr txBox="1"/>
          <p:nvPr/>
        </p:nvSpPr>
        <p:spPr>
          <a:xfrm>
            <a:off x="762000" y="1714500"/>
            <a:ext cx="1066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2000" i="1" dirty="0">
                <a:solidFill>
                  <a:srgbClr val="22D3EE"/>
                </a:solidFill>
                <a:latin typeface="Calibri"/>
              </a:rPr>
              <a:t>Existing macroeconomic visualizations often fall short — they are static, fragmented, and hard to interpret.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71F48E8-CAD3-3D06-61F2-BE06AE45B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94000"/>
            <a:ext cx="4826000" cy="254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154F54-E1B4-DBF9-43D3-445F4E89A8C0}"/>
              </a:ext>
            </a:extLst>
          </p:cNvPr>
          <p:cNvSpPr txBox="1"/>
          <p:nvPr/>
        </p:nvSpPr>
        <p:spPr>
          <a:xfrm>
            <a:off x="762000" y="5397500"/>
            <a:ext cx="482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000" i="1" dirty="0">
                <a:solidFill>
                  <a:srgbClr val="93C5FD"/>
                </a:solidFill>
                <a:latin typeface="Calibri"/>
              </a:rPr>
              <a:t>Source: O. Blanchard, "Macroeconomics"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90230-E18B-E4E3-D412-0473AADF6BE9}"/>
              </a:ext>
            </a:extLst>
          </p:cNvPr>
          <p:cNvSpPr txBox="1"/>
          <p:nvPr/>
        </p:nvSpPr>
        <p:spPr>
          <a:xfrm>
            <a:off x="6604000" y="5397500"/>
            <a:ext cx="482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None/>
            </a:pPr>
            <a:r>
              <a:rPr lang="en-US" sz="1000" i="1" dirty="0">
                <a:solidFill>
                  <a:srgbClr val="93C5FD"/>
                </a:solidFill>
                <a:latin typeface="Calibri"/>
              </a:rPr>
              <a:t>Source: </a:t>
            </a:r>
            <a:r>
              <a:rPr lang="en-US" sz="1000" i="1" dirty="0">
                <a:solidFill>
                  <a:srgbClr val="93C5FD"/>
                </a:solidFill>
                <a:latin typeface="Calibri"/>
                <a:hlinkClick r:id="rId4"/>
              </a:rPr>
              <a:t>link</a:t>
            </a:r>
            <a:endParaRPr lang="en-US" sz="1000" i="1" dirty="0">
              <a:solidFill>
                <a:srgbClr val="93C5FD"/>
              </a:solidFill>
              <a:latin typeface="Calibri"/>
            </a:endParaRPr>
          </a:p>
        </p:txBody>
      </p:sp>
      <p:sp>
        <p:nvSpPr>
          <p:cNvPr id="700" name="Takeaway"/>
          <p:cNvSpPr txBox="1"/>
          <p:nvPr/>
        </p:nvSpPr>
        <p:spPr>
          <a:xfrm>
            <a:off x="762000" y="6032500"/>
            <a:ext cx="10668000" cy="5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The opportunity:  </a:t>
            </a:r>
            <a:r>
              <a:rPr lang="en-US" sz="1400" dirty="0">
                <a:solidFill>
                  <a:srgbClr val="EAF4FB"/>
                </a:solidFill>
                <a:latin typeface="Calibri"/>
              </a:rPr>
              <a:t>build a unified, interactive, AI-augmented research tool for macroeconomists</a:t>
            </a:r>
          </a:p>
        </p:txBody>
      </p:sp>
    </p:spTree>
    <p:extLst>
      <p:ext uri="{BB962C8B-B14F-4D97-AF65-F5344CB8AC3E}">
        <p14:creationId xmlns:p14="http://schemas.microsoft.com/office/powerpoint/2010/main" val="169496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90C32-8167-CA88-19CD-E3435959B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/>
              </a:rPr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045E1-A5E2-3343-D183-BD93AFBF2A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05000"/>
            <a:ext cx="10668000" cy="44450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/>
              </a:rPr>
              <a:t>01  </a:t>
            </a:r>
            <a:r>
              <a:rPr lang="en-US" sz="2000" b="1" dirty="0">
                <a:solidFill>
                  <a:srgbClr val="FFFFFF"/>
                </a:solidFill>
                <a:latin typeface="Georgia"/>
              </a:rPr>
              <a:t>A multi-functional research tool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Deliver a single platform that helps researchers generate and test macroeconomic hypotheses.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/>
              </a:rPr>
              <a:t>02  </a:t>
            </a:r>
            <a:r>
              <a:rPr lang="en-US" sz="2000" b="1" dirty="0">
                <a:solidFill>
                  <a:srgbClr val="FFFFFF"/>
                </a:solidFill>
                <a:latin typeface="Georgia"/>
              </a:rPr>
              <a:t>High-quality, interactive visualizations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Replace static, scattered charts with clean, configurable, comparable views across countries and indicators.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/>
              </a:rPr>
              <a:t>03  </a:t>
            </a:r>
            <a:r>
              <a:rPr lang="en-US" sz="2000" b="1" dirty="0">
                <a:solidFill>
                  <a:srgbClr val="FFFFFF"/>
                </a:solidFill>
                <a:latin typeface="Georgia"/>
              </a:rPr>
              <a:t>AI agentic system, grounded in data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Use modern AI agents to support fact-based research with minimal hallucinations.</a:t>
            </a:r>
          </a:p>
        </p:txBody>
      </p:sp>
    </p:spTree>
    <p:extLst>
      <p:ext uri="{BB962C8B-B14F-4D97-AF65-F5344CB8AC3E}">
        <p14:creationId xmlns:p14="http://schemas.microsoft.com/office/powerpoint/2010/main" val="1688629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A330-EE7A-6CD7-0643-5951B3923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/>
              </a:rPr>
              <a:t>Target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0C10CD-C8FC-63BB-9337-CB3AF7187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032000"/>
            <a:ext cx="10668000" cy="4064000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/>
              </a:rPr>
              <a:t>Macroeconomic researchers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EAF4FB"/>
                </a:solidFill>
                <a:latin typeface="Calibri"/>
              </a:rPr>
              <a:t>Academics, analysts and students seeking a fast way to explore indicators, test hypotheses and compare countries across time.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/>
              </a:rPr>
              <a:t>Decision-makers and curious professionals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EAF4FB"/>
                </a:solidFill>
                <a:latin typeface="Calibri"/>
              </a:rPr>
              <a:t>Anyone who needs a high-level overview of the global macroeconomic landscape without building bespoke dashboards from scratch.</a:t>
            </a:r>
          </a:p>
        </p:txBody>
      </p:sp>
    </p:spTree>
    <p:extLst>
      <p:ext uri="{BB962C8B-B14F-4D97-AF65-F5344CB8AC3E}">
        <p14:creationId xmlns:p14="http://schemas.microsoft.com/office/powerpoint/2010/main" val="3042359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ABDCD-732B-A195-BEBB-29AEC2336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/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ABE24-EE69-A72A-E6AB-36F9D66F6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59000"/>
            <a:ext cx="10668000" cy="1270000"/>
          </a:xfrm>
        </p:spPr>
        <p:txBody>
          <a:bodyPr/>
          <a:lstStyle/>
          <a:p>
            <a:pPr algn="l">
              <a:buNone/>
            </a:pPr>
            <a:r>
              <a:rPr lang="en-US" sz="2400" i="1" dirty="0">
                <a:solidFill>
                  <a:srgbClr val="22D3EE"/>
                </a:solidFill>
                <a:latin typeface="Calibri"/>
              </a:rPr>
              <a:t>Multiple open data sources, combined into one dashboard</a:t>
            </a:r>
          </a:p>
          <a:p>
            <a:pPr algn="l">
              <a:buNone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Diverse, complementary data sources give a richer and more reliable understanding of the global macroeconomic picture.</a:t>
            </a:r>
          </a:p>
        </p:txBody>
      </p:sp>
      <p:sp>
        <p:nvSpPr>
          <p:cNvPr id="800" name="Pill0"/>
          <p:cNvSpPr/>
          <p:nvPr/>
        </p:nvSpPr>
        <p:spPr>
          <a:xfrm>
            <a:off x="762000" y="4318000"/>
            <a:ext cx="3048000" cy="1016000"/>
          </a:xfrm>
          <a:prstGeom prst="roundRect">
            <a:avLst>
              <a:gd name="adj" fmla="val 25000"/>
            </a:avLst>
          </a:prstGeom>
          <a:solidFill>
            <a:srgbClr val="0E2A4F"/>
          </a:solidFill>
          <a:ln w="12700">
            <a:solidFill>
              <a:srgbClr val="22D3EE"/>
            </a:solidFill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</a:rPr>
              <a:t>World Bank</a:t>
            </a:r>
          </a:p>
        </p:txBody>
      </p:sp>
      <p:sp>
        <p:nvSpPr>
          <p:cNvPr id="801" name="Pill1"/>
          <p:cNvSpPr/>
          <p:nvPr/>
        </p:nvSpPr>
        <p:spPr>
          <a:xfrm>
            <a:off x="4572000" y="4318000"/>
            <a:ext cx="3048000" cy="1016000"/>
          </a:xfrm>
          <a:prstGeom prst="roundRect">
            <a:avLst>
              <a:gd name="adj" fmla="val 25000"/>
            </a:avLst>
          </a:prstGeom>
          <a:solidFill>
            <a:srgbClr val="0E2A4F"/>
          </a:solidFill>
          <a:ln w="12700">
            <a:solidFill>
              <a:srgbClr val="22D3EE"/>
            </a:solidFill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</a:rPr>
              <a:t>Webz.io News</a:t>
            </a:r>
          </a:p>
        </p:txBody>
      </p:sp>
      <p:sp>
        <p:nvSpPr>
          <p:cNvPr id="802" name="Pill2"/>
          <p:cNvSpPr/>
          <p:nvPr/>
        </p:nvSpPr>
        <p:spPr>
          <a:xfrm>
            <a:off x="8382000" y="4318000"/>
            <a:ext cx="3048000" cy="1016000"/>
          </a:xfrm>
          <a:prstGeom prst="roundRect">
            <a:avLst>
              <a:gd name="adj" fmla="val 25000"/>
            </a:avLst>
          </a:prstGeom>
          <a:solidFill>
            <a:srgbClr val="0E2A4F"/>
          </a:solidFill>
          <a:ln w="12700">
            <a:solidFill>
              <a:srgbClr val="22D3EE"/>
            </a:solidFill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/>
              </a:rPr>
              <a:t>Yahoo Finance</a:t>
            </a:r>
          </a:p>
        </p:txBody>
      </p:sp>
      <p:sp>
        <p:nvSpPr>
          <p:cNvPr id="850" name="Caption"/>
          <p:cNvSpPr txBox="1"/>
          <p:nvPr/>
        </p:nvSpPr>
        <p:spPr>
          <a:xfrm>
            <a:off x="762000" y="5588000"/>
            <a:ext cx="10668000" cy="508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en-US" sz="1400" dirty="0">
                <a:solidFill>
                  <a:srgbClr val="93C5FD"/>
                </a:solidFill>
                <a:latin typeface="Calibri"/>
              </a:rPr>
              <a:t>Each source is detailed on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3741584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BE9DD-0302-ACB9-B973-B9F6790EB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/>
              </a:rPr>
              <a:t>Data Sources  </a:t>
            </a:r>
            <a:r>
              <a:rPr lang="en-US" sz="3200" dirty="0">
                <a:solidFill>
                  <a:srgbClr val="22D3EE"/>
                </a:solidFill>
                <a:latin typeface="Georgia"/>
              </a:rPr>
              <a:t>/  World Bank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9E756-1241-5F38-92BC-4EE495569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78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1600" dirty="0">
                <a:solidFill>
                  <a:srgbClr val="EAF4FB"/>
                </a:solidFill>
                <a:latin typeface="Calibri"/>
              </a:rPr>
              <a:t>The primary source of long-run macroeconomic indicators — GDP, inflation, employment and more, by country and year.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AD01ED-5E39-62AD-BFF4-AA2F72A19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794000"/>
            <a:ext cx="4826000" cy="279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86D4FF-179E-3E7B-82B4-6BCF4D594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94000"/>
            <a:ext cx="5334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94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CAACC-F8E9-0C03-DC5C-010C3BF7D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/>
              </a:rPr>
              <a:t>Data Sources  </a:t>
            </a:r>
            <a:r>
              <a:rPr lang="en-US" sz="3200" dirty="0">
                <a:solidFill>
                  <a:srgbClr val="22D3EE"/>
                </a:solidFill>
                <a:latin typeface="Georgia"/>
              </a:rPr>
              <a:t>/  Webz.io News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FB06138-388F-1938-E7D9-FDCDC051D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78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1600" dirty="0">
                <a:solidFill>
                  <a:srgbClr val="EAF4FB"/>
                </a:solidFill>
                <a:latin typeface="Calibri"/>
              </a:rPr>
              <a:t>News dataset repository — adds qualitative context and timely signals on top of structured macro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89E4AA-5345-881A-DB4C-8C3F8793BD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90888"/>
            <a:ext cx="3781425" cy="21701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743FAFD-9367-A07D-C651-D394C2FB4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051" y="3290888"/>
            <a:ext cx="4171950" cy="21701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56E6AC-FB6C-D892-9395-A61A240087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763" y="3290888"/>
            <a:ext cx="4171949" cy="217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40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677DF-61C6-1AF5-C912-666A7B0C7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/>
              </a:rPr>
              <a:t>Data Sources  </a:t>
            </a:r>
            <a:r>
              <a:rPr lang="en-US" sz="3200" dirty="0">
                <a:solidFill>
                  <a:srgbClr val="22D3EE"/>
                </a:solidFill>
                <a:latin typeface="Georgia"/>
              </a:rPr>
              <a:t>/  Yahoo Finance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3759DED-FCF6-785A-2641-9D0218D15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78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1600" dirty="0">
                <a:solidFill>
                  <a:srgbClr val="EAF4FB"/>
                </a:solidFill>
                <a:latin typeface="Calibri"/>
              </a:rPr>
              <a:t>Market data — equities, currencies, commodities — providing the financial-markets layer of the dashboard.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7EE7EE-7891-E824-0994-0C9AE9311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511" y="2936300"/>
            <a:ext cx="5829863" cy="26516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56D7F9-1A18-CD23-A3E0-0C03DBAE4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6" y="2936300"/>
            <a:ext cx="6196012" cy="2651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8168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6C539-5B94-C32B-A734-803C3005B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/>
              </a:rPr>
              <a:t>Technical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222B8-3140-F710-A417-FFFEEE526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05000"/>
            <a:ext cx="10668000" cy="4572000"/>
          </a:xfrm>
        </p:spPr>
        <p:txBody>
          <a:bodyPr/>
          <a:lstStyle/>
          <a:p>
            <a:pPr marL="228600" indent="-228600">
              <a:spcAft>
                <a:spcPts val="600"/>
              </a:spcAft>
              <a:buFont typeface="Arial"/>
              <a:buChar char="◆"/>
            </a:pPr>
            <a:r>
              <a:rPr lang="en-US" sz="1600" b="1" dirty="0">
                <a:solidFill>
                  <a:srgbClr val="22D3EE"/>
                </a:solidFill>
                <a:latin typeface="Calibri"/>
              </a:rPr>
              <a:t>Multi-page dashboard  </a:t>
            </a:r>
            <a:r>
              <a:rPr lang="en-US" sz="1600" dirty="0">
                <a:solidFill>
                  <a:srgbClr val="EAF4FB"/>
                </a:solidFill>
                <a:latin typeface="Calibri"/>
              </a:rPr>
              <a:t>the main application, inspired by Apache Superset.</a:t>
            </a:r>
          </a:p>
          <a:p>
            <a:pPr marL="228600" indent="-228600">
              <a:spcAft>
                <a:spcPts val="600"/>
              </a:spcAft>
              <a:buFont typeface="Arial"/>
              <a:buChar char="◆"/>
            </a:pPr>
            <a:r>
              <a:rPr lang="en-US" sz="1600" b="1" dirty="0">
                <a:solidFill>
                  <a:srgbClr val="22D3EE"/>
                </a:solidFill>
                <a:latin typeface="Calibri"/>
              </a:rPr>
              <a:t>Python-first codebase  </a:t>
            </a:r>
            <a:r>
              <a:rPr lang="en-US" sz="1600" dirty="0">
                <a:solidFill>
                  <a:srgbClr val="EAF4FB"/>
                </a:solidFill>
                <a:latin typeface="Calibri"/>
              </a:rPr>
              <a:t>the bulk of the platform is written in Python.</a:t>
            </a:r>
          </a:p>
          <a:p>
            <a:pPr marL="228600" indent="-228600">
              <a:spcAft>
                <a:spcPts val="600"/>
              </a:spcAft>
              <a:buFont typeface="Arial"/>
              <a:buChar char="◆"/>
            </a:pPr>
            <a:r>
              <a:rPr lang="en-US" sz="1600" b="1" dirty="0">
                <a:solidFill>
                  <a:srgbClr val="22D3EE"/>
                </a:solidFill>
                <a:latin typeface="Calibri"/>
              </a:rPr>
              <a:t>Microservice architecture  </a:t>
            </a:r>
            <a:r>
              <a:rPr lang="en-US" sz="1600" dirty="0">
                <a:solidFill>
                  <a:srgbClr val="EAF4FB"/>
                </a:solidFill>
                <a:latin typeface="Calibri"/>
              </a:rPr>
              <a:t>components are decoupled and independently deployable.</a:t>
            </a:r>
          </a:p>
          <a:p>
            <a:pPr marL="228600" indent="-228600">
              <a:spcAft>
                <a:spcPts val="600"/>
              </a:spcAft>
              <a:buFont typeface="Arial"/>
              <a:buChar char="◆"/>
            </a:pPr>
            <a:r>
              <a:rPr lang="en-US" sz="1600" b="1" dirty="0">
                <a:solidFill>
                  <a:srgbClr val="22D3EE"/>
                </a:solidFill>
                <a:latin typeface="Calibri"/>
              </a:rPr>
              <a:t>Active use of ML models  </a:t>
            </a:r>
            <a:r>
              <a:rPr lang="en-US" sz="1600" dirty="0">
                <a:solidFill>
                  <a:srgbClr val="EAF4FB"/>
                </a:solidFill>
                <a:latin typeface="Calibri"/>
              </a:rPr>
              <a:t>for indicator forecasting and signal extraction.</a:t>
            </a:r>
          </a:p>
          <a:p>
            <a:pPr marL="228600" indent="-228600">
              <a:spcAft>
                <a:spcPts val="600"/>
              </a:spcAft>
              <a:buFont typeface="Arial"/>
              <a:buChar char="◆"/>
            </a:pPr>
            <a:r>
              <a:rPr lang="en-US" sz="1600" b="1" dirty="0">
                <a:solidFill>
                  <a:srgbClr val="22D3EE"/>
                </a:solidFill>
                <a:latin typeface="Calibri"/>
              </a:rPr>
              <a:t>AI agentic system  </a:t>
            </a:r>
            <a:r>
              <a:rPr lang="en-US" sz="1600" dirty="0">
                <a:solidFill>
                  <a:srgbClr val="EAF4FB"/>
                </a:solidFill>
                <a:latin typeface="Calibri"/>
              </a:rPr>
              <a:t>for natural-language research workflows on top of the data.</a:t>
            </a:r>
          </a:p>
          <a:p>
            <a:pPr marL="228600" indent="-228600">
              <a:spcAft>
                <a:spcPts val="600"/>
              </a:spcAft>
              <a:buFont typeface="Arial"/>
              <a:buChar char="◆"/>
            </a:pPr>
            <a:r>
              <a:rPr lang="en-US" sz="1600" b="1" dirty="0">
                <a:solidFill>
                  <a:srgbClr val="22D3EE"/>
                </a:solidFill>
                <a:latin typeface="Calibri"/>
              </a:rPr>
              <a:t>Two delivery modes  </a:t>
            </a:r>
            <a:r>
              <a:rPr lang="en-US" sz="1600" dirty="0">
                <a:solidFill>
                  <a:srgbClr val="EAF4FB"/>
                </a:solidFill>
                <a:latin typeface="Calibri"/>
              </a:rPr>
              <a:t>a local-usage build and a deployable hosted version.</a:t>
            </a:r>
          </a:p>
        </p:txBody>
      </p:sp>
    </p:spTree>
    <p:extLst>
      <p:ext uri="{BB962C8B-B14F-4D97-AF65-F5344CB8AC3E}">
        <p14:creationId xmlns:p14="http://schemas.microsoft.com/office/powerpoint/2010/main" val="1474735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F27B4-7559-9CCF-FCB0-512BF3446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/>
              </a:rPr>
              <a:t>Technical Solutions  </a:t>
            </a:r>
            <a:r>
              <a:rPr lang="en-US" sz="3200" dirty="0">
                <a:solidFill>
                  <a:srgbClr val="22D3EE"/>
                </a:solidFill>
                <a:latin typeface="Georgia"/>
              </a:rPr>
              <a:t>/  Agentic Trade-offs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60F76-AEC0-D186-564F-1093A24CC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778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1600" i="1" dirty="0">
                <a:solidFill>
                  <a:srgbClr val="EAF4FB"/>
                </a:solidFill>
                <a:latin typeface="Calibri"/>
              </a:rPr>
              <a:t>Higher task complexity unlocks more value but increases the risk of unexpected agent behaviour.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95F35D-0671-10B3-CE20-5F873DD18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000" y="-25400000"/>
            <a:ext cx="12700" cy="12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45D281-826F-586E-DF1D-BDCEEC8005EE}"/>
              </a:ext>
            </a:extLst>
          </p:cNvPr>
          <p:cNvSpPr txBox="1"/>
          <p:nvPr/>
        </p:nvSpPr>
        <p:spPr>
          <a:xfrm>
            <a:off x="-25400000" y="-25400000"/>
            <a:ext cx="12700" cy="12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/>
              <a:t> </a:t>
            </a:r>
          </a:p>
        </p:txBody>
      </p:sp>
      <p:sp>
        <p:nvSpPr>
          <p:cNvPr id="910" name="Card910"/>
          <p:cNvSpPr/>
          <p:nvPr/>
        </p:nvSpPr>
        <p:spPr>
          <a:xfrm>
            <a:off x="762000" y="2794000"/>
            <a:ext cx="5080000" cy="3556000"/>
          </a:xfrm>
          <a:prstGeom prst="roundRect">
            <a:avLst>
              <a:gd name="adj" fmla="val 6000"/>
            </a:avLst>
          </a:prstGeom>
          <a:solidFill>
            <a:srgbClr val="0E2A4F"/>
          </a:solidFill>
          <a:ln w="12700">
            <a:solidFill>
              <a:srgbClr val="22D3EE"/>
            </a:solidFill>
          </a:ln>
        </p:spPr>
        <p:txBody>
          <a:bodyPr wrap="square" lIns="228600" tIns="228600" rIns="228600" bIns="228600">
            <a:no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22D3EE"/>
                </a:solidFill>
                <a:latin typeface="Georgia"/>
              </a:rPr>
              <a:t>Advantages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Real-world problems and tasks are actually solved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Autonomy — the agent decides how to reach the goal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Scales naturally as task complexity grows</a:t>
            </a:r>
          </a:p>
        </p:txBody>
      </p:sp>
      <p:sp>
        <p:nvSpPr>
          <p:cNvPr id="911" name="Card911"/>
          <p:cNvSpPr/>
          <p:nvPr/>
        </p:nvSpPr>
        <p:spPr>
          <a:xfrm>
            <a:off x="6350000" y="2794000"/>
            <a:ext cx="5080000" cy="3556000"/>
          </a:xfrm>
          <a:prstGeom prst="roundRect">
            <a:avLst>
              <a:gd name="adj" fmla="val 6000"/>
            </a:avLst>
          </a:prstGeom>
          <a:solidFill>
            <a:srgbClr val="0E2A4F"/>
          </a:solidFill>
          <a:ln w="12700">
            <a:solidFill>
              <a:srgbClr val="60A5FA"/>
            </a:solidFill>
          </a:ln>
        </p:spPr>
        <p:txBody>
          <a:bodyPr wrap="square" lIns="228600" tIns="228600" rIns="228600" bIns="228600">
            <a:no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60A5FA"/>
                </a:solidFill>
                <a:latin typeface="Georgia"/>
              </a:rPr>
              <a:t>Risks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Higher probability of unexpected behaviour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Debugging incorrect agent actions is difficult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Quality depends on prompt and tool design</a:t>
            </a:r>
          </a:p>
        </p:txBody>
      </p:sp>
    </p:spTree>
    <p:extLst>
      <p:ext uri="{BB962C8B-B14F-4D97-AF65-F5344CB8AC3E}">
        <p14:creationId xmlns:p14="http://schemas.microsoft.com/office/powerpoint/2010/main" val="2030463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1608E-DD9D-4891-52EA-874CFD5C9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/>
              </a:rPr>
              <a:t>Architecture  </a:t>
            </a:r>
            <a:r>
              <a:rPr lang="en-US" sz="3200" dirty="0">
                <a:solidFill>
                  <a:srgbClr val="22D3EE"/>
                </a:solidFill>
                <a:latin typeface="Georgia"/>
              </a:rPr>
              <a:t>/  System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274DD7-27DA-E18D-6EEE-BE9F469BC4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936" y="1524000"/>
            <a:ext cx="9747931" cy="471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4935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ED929-3A06-AC1C-6ABD-539EC49CD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E9AA5-706A-A1E6-68B1-AD1E3EC5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/>
              </a:rPr>
              <a:t>Architecture  </a:t>
            </a:r>
            <a:r>
              <a:rPr lang="en-US" sz="3200" dirty="0">
                <a:solidFill>
                  <a:srgbClr val="22D3EE"/>
                </a:solidFill>
                <a:latin typeface="Georgia"/>
              </a:rPr>
              <a:t>/  Documented APIs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3A7D7E-465A-8720-985D-78943E168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4402" y="2095500"/>
            <a:ext cx="7719558" cy="406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042442-41CE-5AD2-290D-03549256AD6D}"/>
              </a:ext>
            </a:extLst>
          </p:cNvPr>
          <p:cNvSpPr txBox="1"/>
          <p:nvPr/>
        </p:nvSpPr>
        <p:spPr>
          <a:xfrm>
            <a:off x="762000" y="2095500"/>
            <a:ext cx="355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200" b="1" dirty="0">
                <a:solidFill>
                  <a:srgbClr val="22D3EE"/>
                </a:solidFill>
                <a:latin typeface="Georgia"/>
              </a:rPr>
              <a:t>APIs are documented</a:t>
            </a:r>
          </a:p>
          <a:p>
            <a:pPr>
              <a:buNone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Every microservice exposes an OpenAPI specification, making the system easy to integrate, test and extend.</a:t>
            </a:r>
          </a:p>
          <a:p>
            <a:pPr>
              <a:buNone/>
            </a:pPr>
            <a:r>
              <a:rPr lang="en-US" sz="1300" i="1" dirty="0">
                <a:solidFill>
                  <a:srgbClr val="93C5FD"/>
                </a:solidFill>
                <a:latin typeface="Calibri"/>
              </a:rPr>
              <a:t>Auto-generated docs from FastAPI / Swagger.</a:t>
            </a:r>
          </a:p>
        </p:txBody>
      </p:sp>
    </p:spTree>
    <p:extLst>
      <p:ext uri="{BB962C8B-B14F-4D97-AF65-F5344CB8AC3E}">
        <p14:creationId xmlns:p14="http://schemas.microsoft.com/office/powerpoint/2010/main" val="525514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8755-C2E3-5A41-004D-07B979C4B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/>
              </a:rPr>
              <a:t>Architecture  </a:t>
            </a:r>
            <a:r>
              <a:rPr lang="en-US" sz="3200" dirty="0">
                <a:solidFill>
                  <a:srgbClr val="22D3EE"/>
                </a:solidFill>
                <a:latin typeface="Georgia"/>
              </a:rPr>
              <a:t>/  Technical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EA780-AB71-1B4F-FE4A-1EEA85013E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51000"/>
            <a:ext cx="10668000" cy="635000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en-US" sz="1500" i="1" dirty="0">
                <a:solidFill>
                  <a:srgbClr val="EAF4FB"/>
                </a:solidFill>
                <a:latin typeface="Calibri"/>
              </a:rPr>
              <a:t>Backend, ML, infrastructure and tooling that power the platform.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95ED6B-67A4-4562-7133-69B9D5DBC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540000"/>
            <a:ext cx="1416051" cy="127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831E9F-7890-257F-38F9-1BB10D2296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738" y="2699543"/>
            <a:ext cx="3216274" cy="9509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02EE6E-C11D-BD8B-51E7-5A1ABBF21A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7975" y="2514599"/>
            <a:ext cx="1416050" cy="1270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3E601B-5A85-AA95-A6E4-8D66E56C6E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2988" y="2514599"/>
            <a:ext cx="2286000" cy="127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4FCD57-9AED-88E5-B64F-F0CF5A8056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4064000"/>
            <a:ext cx="2286000" cy="127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65BE70-B414-E69B-88AA-F6862C737E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000" y="4064000"/>
            <a:ext cx="2286000" cy="127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98BED29-8AC5-4675-8D2B-6A3C7B29A4D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4064000"/>
            <a:ext cx="2286000" cy="127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C032ABD-F0A0-A784-84B5-DA3EF3069B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4064000"/>
            <a:ext cx="2286000" cy="12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53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135A3-BD9E-D44E-5C6F-1F1B78355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BFC5A-BE1E-4AAD-D477-6E0A79C0A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/>
              </a:rPr>
              <a:t>Architecture  </a:t>
            </a:r>
            <a:r>
              <a:rPr lang="en-US" sz="3200" dirty="0">
                <a:solidFill>
                  <a:srgbClr val="22D3EE"/>
                </a:solidFill>
                <a:latin typeface="Georgia"/>
              </a:rPr>
              <a:t>/  AI &amp; Data Layer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56987B-77AC-F40F-31E7-ADDB3E15A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400000" y="-25400000"/>
            <a:ext cx="12700" cy="12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C522DA-0EE9-5C7A-743A-49177FB67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807" y="2894810"/>
            <a:ext cx="1822878" cy="7304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0F8B6A-9002-2B30-E747-B82B1EB724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089" y="3810001"/>
            <a:ext cx="2081483" cy="9799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E2D1BF-6CD3-032A-07D9-E13EE2DC7D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573" y="2413000"/>
            <a:ext cx="2286000" cy="1270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8EC2468-BC68-1993-8D17-4B047C4055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829" y="2418396"/>
            <a:ext cx="1503864" cy="1270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DCFF4C-7002-D62D-9883-84A2339782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858" y="4826001"/>
            <a:ext cx="2286000" cy="127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2D0FB5-7241-67FD-59DE-0BB5CF6C2D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318" y="5510089"/>
            <a:ext cx="1566509" cy="6101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6C4A64-0940-61D0-FA30-B61A424BE7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7931" y="5055257"/>
            <a:ext cx="1339355" cy="1356073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614642-20C9-854C-5D2D-3CB375D1F298}"/>
              </a:ext>
            </a:extLst>
          </p:cNvPr>
          <p:cNvSpPr txBox="1">
            <a:spLocks/>
          </p:cNvSpPr>
          <p:nvPr/>
        </p:nvSpPr>
        <p:spPr>
          <a:xfrm>
            <a:off x="762000" y="1651000"/>
            <a:ext cx="10668000" cy="635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1500" i="1" dirty="0">
                <a:solidFill>
                  <a:srgbClr val="EAF4FB"/>
                </a:solidFill>
                <a:latin typeface="Calibri"/>
              </a:rPr>
              <a:t>Models, vector storage, agent orchestration and the supporting data services.</a:t>
            </a:r>
          </a:p>
        </p:txBody>
      </p:sp>
    </p:spTree>
    <p:extLst>
      <p:ext uri="{BB962C8B-B14F-4D97-AF65-F5344CB8AC3E}">
        <p14:creationId xmlns:p14="http://schemas.microsoft.com/office/powerpoint/2010/main" val="127519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68279-1EEE-0241-8BD7-2961F02DA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DB70-912C-2E8E-0E3C-1DFC58E56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200" b="1" dirty="0">
                <a:solidFill>
                  <a:srgbClr val="FFFFFF"/>
                </a:solidFill>
                <a:latin typeface="Georgia"/>
              </a:rPr>
              <a:t>Architecture  </a:t>
            </a:r>
            <a:r>
              <a:rPr lang="en-US" sz="3200" dirty="0">
                <a:solidFill>
                  <a:srgbClr val="22D3EE"/>
                </a:solidFill>
                <a:latin typeface="Georgia"/>
              </a:rPr>
              <a:t>/  AI Agent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936417-B408-3A91-D072-D17972811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430" y="1601031"/>
            <a:ext cx="8505825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822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906DB-523C-9D27-8EF9-477E88338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Core Functionality  </a:t>
            </a:r>
            <a:r>
              <a:rPr lang="en-US" sz="2800" dirty="0">
                <a:solidFill>
                  <a:srgbClr val="22D3EE"/>
                </a:solidFill>
                <a:latin typeface="Georgia"/>
              </a:rPr>
              <a:t>/  World Bank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779B0-B4AA-FE36-8DE3-9F2B2C5FD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100000" y="-38100000"/>
            <a:ext cx="12700" cy="12700"/>
          </a:xfrm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C17A35-0C86-16FD-5D61-BA99DD004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1397000"/>
            <a:ext cx="4826000" cy="2222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47DBFF-F242-F9B6-790D-474DDCD91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4000500"/>
            <a:ext cx="4826000" cy="2222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3724F9-8BC2-64C9-C38D-0C8E7B6860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397000"/>
            <a:ext cx="4826000" cy="2222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5F7B99-72A0-198C-1156-E7012C983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4000500"/>
            <a:ext cx="4826000" cy="2222500"/>
          </a:xfrm>
          <a:prstGeom prst="rect">
            <a:avLst/>
          </a:prstGeom>
        </p:spPr>
      </p:pic>
      <p:sp>
        <p:nvSpPr>
          <p:cNvPr id="901" name="Cap"/>
          <p:cNvSpPr txBox="1"/>
          <p:nvPr/>
        </p:nvSpPr>
        <p:spPr>
          <a:xfrm>
            <a:off x="762000" y="6350000"/>
            <a:ext cx="10668000" cy="381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en-US" sz="1300" i="1" dirty="0">
                <a:solidFill>
                  <a:srgbClr val="93C5FD"/>
                </a:solidFill>
                <a:latin typeface="Calibri"/>
              </a:rPr>
              <a:t>Browse, filter and compare key macroeconomic indicators across countries and time.</a:t>
            </a:r>
          </a:p>
        </p:txBody>
      </p:sp>
    </p:spTree>
    <p:extLst>
      <p:ext uri="{BB962C8B-B14F-4D97-AF65-F5344CB8AC3E}">
        <p14:creationId xmlns:p14="http://schemas.microsoft.com/office/powerpoint/2010/main" val="19934454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CC856-7406-EBD3-9831-CBCBD6199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Core Functionality  </a:t>
            </a:r>
            <a:r>
              <a:rPr lang="en-US" sz="2800" dirty="0">
                <a:solidFill>
                  <a:srgbClr val="22D3EE"/>
                </a:solidFill>
                <a:latin typeface="Georgia"/>
              </a:rPr>
              <a:t>/  Yahoo Finance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4E405-49FA-D8B4-9F16-3BE96BE3A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100000" y="-38100000"/>
            <a:ext cx="12700" cy="12700"/>
          </a:xfrm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955E98-22EF-118D-C2EC-A09ED676E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97000"/>
            <a:ext cx="5207000" cy="228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063304-021C-4202-B0A9-D91B07808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1397000"/>
            <a:ext cx="5207000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1D7577-23F4-18FA-CF2D-934CEE9A3B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3512" y="3937000"/>
            <a:ext cx="6784976" cy="247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580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9854D-BA40-B822-464D-2927EF5E5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Core Functionality  </a:t>
            </a:r>
            <a:r>
              <a:rPr lang="en-US" sz="2800" dirty="0">
                <a:solidFill>
                  <a:srgbClr val="22D3EE"/>
                </a:solidFill>
                <a:latin typeface="Georgia"/>
              </a:rPr>
              <a:t>/  News &amp;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E70BE-8F63-200A-FF7E-C99250CC1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100000" y="-38100000"/>
            <a:ext cx="12700" cy="12700"/>
          </a:xfrm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99554F-1D03-27B4-C0F3-EDBBE6604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9" y="2226826"/>
            <a:ext cx="5207000" cy="3368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BBB29F-39DD-7870-8DCA-2CA49C224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26826"/>
            <a:ext cx="6005512" cy="336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592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D2B44-59FA-6903-9DDE-7B1B85B25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Core Functionality  </a:t>
            </a:r>
            <a:r>
              <a:rPr lang="en-US" sz="2800" dirty="0">
                <a:solidFill>
                  <a:srgbClr val="22D3EE"/>
                </a:solidFill>
                <a:latin typeface="Georgia"/>
              </a:rPr>
              <a:t>/ 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09D1B0-4D70-5B88-A57F-22CEAFE1A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100000" y="-38100000"/>
            <a:ext cx="12700" cy="12700"/>
          </a:xfrm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4EC64A-43F4-E947-12DA-849B733F2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2032000"/>
            <a:ext cx="4381500" cy="2794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67B0AC-EB4C-5CEA-06C6-C2B1F04DD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213" y="1651000"/>
            <a:ext cx="6173787" cy="3556000"/>
          </a:xfrm>
          <a:prstGeom prst="rect">
            <a:avLst/>
          </a:prstGeom>
        </p:spPr>
      </p:pic>
      <p:sp>
        <p:nvSpPr>
          <p:cNvPr id="901" name="Cap"/>
          <p:cNvSpPr txBox="1"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Configurable clustering for better understanding differences between groups of countries</a:t>
            </a:r>
          </a:p>
        </p:txBody>
      </p:sp>
    </p:spTree>
    <p:extLst>
      <p:ext uri="{BB962C8B-B14F-4D97-AF65-F5344CB8AC3E}">
        <p14:creationId xmlns:p14="http://schemas.microsoft.com/office/powerpoint/2010/main" val="4293377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EC20B-42C7-EAA6-D76D-F37F2A4B7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Core Functionality  </a:t>
            </a:r>
            <a:r>
              <a:rPr lang="en-US" sz="2800" dirty="0">
                <a:solidFill>
                  <a:srgbClr val="22D3EE"/>
                </a:solidFill>
                <a:latin typeface="Georgia"/>
              </a:rPr>
              <a:t>/  Chatting &amp;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83C945-D9BB-FC24-2E76-953E03948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100000" y="-38100000"/>
            <a:ext cx="12700" cy="12700"/>
          </a:xfrm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7B560-97A5-3420-B4CA-F6F922DE5A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51000"/>
            <a:ext cx="5405438" cy="2921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877088-2AC6-A987-9431-45D7E416C0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1651000"/>
            <a:ext cx="5405438" cy="2921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A0ECE1-3D89-AAFE-C23D-82922F2EEB3B}"/>
              </a:ext>
            </a:extLst>
          </p:cNvPr>
          <p:cNvSpPr txBox="1"/>
          <p:nvPr/>
        </p:nvSpPr>
        <p:spPr>
          <a:xfrm>
            <a:off x="762000" y="4826000"/>
            <a:ext cx="10668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Agent use-cases</a:t>
            </a:r>
          </a:p>
        </p:txBody>
      </p:sp>
    </p:spTree>
    <p:extLst>
      <p:ext uri="{BB962C8B-B14F-4D97-AF65-F5344CB8AC3E}">
        <p14:creationId xmlns:p14="http://schemas.microsoft.com/office/powerpoint/2010/main" val="2439843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0CDA8-F230-2E8D-DCA5-371EF2B2B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63BB-BE90-92EF-05A5-784A605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81000"/>
            <a:ext cx="10668000" cy="762000"/>
          </a:xfrm>
        </p:spPr>
        <p:txBody>
          <a:bodyPr/>
          <a:lstStyle/>
          <a:p>
            <a:pPr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/>
              </a:rPr>
              <a:t>Core Functionality  </a:t>
            </a:r>
            <a:r>
              <a:rPr lang="en-US" sz="2800" dirty="0">
                <a:solidFill>
                  <a:srgbClr val="22D3EE"/>
                </a:solidFill>
                <a:latin typeface="Georgia"/>
              </a:rPr>
              <a:t>/  Retrieval-Augmented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AF0A8-D7B8-E941-CD55-94188A1D6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8100000" y="-38100000"/>
            <a:ext cx="12700" cy="12700"/>
          </a:xfrm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F8DC10-2894-260E-8808-2372DCB81EE0}"/>
              </a:ext>
            </a:extLst>
          </p:cNvPr>
          <p:cNvSpPr txBox="1"/>
          <p:nvPr/>
        </p:nvSpPr>
        <p:spPr>
          <a:xfrm>
            <a:off x="-25400000" y="-25400000"/>
            <a:ext cx="12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400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801562-92C1-AC38-AFC6-B2F01C096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63" y="1651000"/>
            <a:ext cx="5900737" cy="3175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A44E70-0235-4169-8111-68DE844AB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1651000"/>
            <a:ext cx="5530850" cy="3175000"/>
          </a:xfrm>
          <a:prstGeom prst="rect">
            <a:avLst/>
          </a:prstGeom>
        </p:spPr>
      </p:pic>
      <p:sp>
        <p:nvSpPr>
          <p:cNvPr id="901" name="Cap"/>
          <p:cNvSpPr txBox="1"/>
          <p:nvPr/>
        </p:nvSpPr>
        <p:spPr>
          <a:xfrm>
            <a:off x="762000" y="5080000"/>
            <a:ext cx="10668000" cy="1270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buNone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The agent first tries to find data in local RAG and then, if needed, uses web-search tool</a:t>
            </a:r>
          </a:p>
        </p:txBody>
      </p:sp>
    </p:spTree>
    <p:extLst>
      <p:ext uri="{BB962C8B-B14F-4D97-AF65-F5344CB8AC3E}">
        <p14:creationId xmlns:p14="http://schemas.microsoft.com/office/powerpoint/2010/main" val="8561076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9469-CBEA-A03A-636E-D4BB82027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67EDF-B307-38A6-24E4-1E7E481AD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889000"/>
          </a:xfrm>
        </p:spPr>
        <p:txBody>
          <a:bodyPr/>
          <a:lstStyle/>
          <a:p>
            <a:pPr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/>
              </a:rPr>
              <a:t>Core Functionality  </a:t>
            </a:r>
            <a:r>
              <a:rPr lang="en-US" sz="3600" dirty="0">
                <a:solidFill>
                  <a:srgbClr val="22D3EE"/>
                </a:solidFill>
                <a:latin typeface="Georgia"/>
              </a:rPr>
              <a:t>/ 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D97AA-21B1-B4EB-8CE8-763EA0DF6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5400000" y="-25400000"/>
            <a:ext cx="12700" cy="12700"/>
          </a:xfrm>
        </p:spPr>
        <p:txBody>
          <a:bodyPr>
            <a:normAutofit fontScale="25000" lnSpcReduction="20000"/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966B1-4DAB-366E-3F5B-F27D946A9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95500"/>
            <a:ext cx="4752827" cy="26289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22DB9F-EFAC-0EBF-C709-2E9AAE7B81AC}"/>
              </a:ext>
            </a:extLst>
          </p:cNvPr>
          <p:cNvSpPr txBox="1"/>
          <p:nvPr/>
        </p:nvSpPr>
        <p:spPr>
          <a:xfrm>
            <a:off x="762000" y="4826000"/>
            <a:ext cx="4826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22D3EE"/>
                </a:solidFill>
                <a:latin typeface="Calibri"/>
              </a:rPr>
              <a:t>PROMPT  </a:t>
            </a:r>
            <a:r>
              <a:rPr lang="en-US" sz="1300" dirty="0">
                <a:solidFill>
                  <a:srgbClr val="EAF4FB"/>
                </a:solidFill>
                <a:latin typeface="Calibri"/>
              </a:rPr>
              <a:t>Plot the logarithm of USA GDP across years.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E4E15B-1059-E484-31B6-7B1548D02223}"/>
              </a:ext>
            </a:extLst>
          </p:cNvPr>
          <p:cNvSpPr txBox="1"/>
          <p:nvPr/>
        </p:nvSpPr>
        <p:spPr>
          <a:xfrm>
            <a:off x="6604000" y="4826000"/>
            <a:ext cx="4826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1300" b="1" dirty="0">
                <a:solidFill>
                  <a:srgbClr val="22D3EE"/>
                </a:solidFill>
                <a:latin typeface="Calibri"/>
              </a:rPr>
              <a:t>PROMPT  </a:t>
            </a:r>
            <a:r>
              <a:rPr lang="en-US" sz="1300" dirty="0">
                <a:solidFill>
                  <a:srgbClr val="EAF4FB"/>
                </a:solidFill>
                <a:latin typeface="Calibri"/>
              </a:rPr>
              <a:t>Plot the distribution of Gini across countries in 2020 as a violin plot, highlighting countries with the highest and lowest index.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5B7C8C-FADE-251A-837E-23FAD3B34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2095500"/>
            <a:ext cx="4826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518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66898-B4FD-8091-EF33-70E7B91BA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1016000"/>
          </a:xfrm>
        </p:spPr>
        <p:txBody>
          <a:bodyPr/>
          <a:lstStyle/>
          <a:p>
            <a:pPr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/>
              </a:rPr>
              <a:t>AI Tools Used in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7404-A134-A536-547F-95D687013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032000"/>
            <a:ext cx="10668000" cy="4445000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/>
              </a:rPr>
              <a:t>Gemini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EAF4FB"/>
                </a:solidFill>
                <a:latin typeface="Calibri"/>
              </a:rPr>
              <a:t>Architectural decisions, framework selection and overall structure design.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/>
              </a:rPr>
              <a:t>GitHub Copilot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EAF4FB"/>
                </a:solidFill>
                <a:latin typeface="Calibri"/>
              </a:rPr>
              <a:t>In-editor assistance for boilerplate, refactoring and routine coding tasks.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22D3EE"/>
                </a:solidFill>
                <a:latin typeface="Georgia"/>
              </a:rPr>
              <a:t>Claude Code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EAF4FB"/>
                </a:solidFill>
                <a:latin typeface="Calibri"/>
              </a:rPr>
              <a:t>Targeted implementation, debugging and complex agentic-system development.</a:t>
            </a:r>
          </a:p>
        </p:txBody>
      </p:sp>
    </p:spTree>
    <p:extLst>
      <p:ext uri="{BB962C8B-B14F-4D97-AF65-F5344CB8AC3E}">
        <p14:creationId xmlns:p14="http://schemas.microsoft.com/office/powerpoint/2010/main" val="38527495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F54E2-CF9A-A0A7-F99E-BE5867891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1016000"/>
          </a:xfrm>
        </p:spPr>
        <p:txBody>
          <a:bodyPr/>
          <a:lstStyle/>
          <a:p>
            <a:pPr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/>
              </a:rPr>
              <a:t>Project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51A27-6A02-5145-CB20-55DB351A8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032000"/>
            <a:ext cx="10668000" cy="4572000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/>
              </a:rPr>
              <a:t>A wide variety of indicators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Long-run macro data, news flow and financial-markets feeds, all in one place.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/>
              </a:rPr>
              <a:t>A complete macroeconomic outlook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Quantitative, qualitative and market signals combined into a single view.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/>
              </a:rPr>
              <a:t>A multi-functional AI agentic system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Natural-language research workflows that go beyond static dashboards.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22D3EE"/>
                </a:solidFill>
                <a:latin typeface="Georgia"/>
              </a:rPr>
              <a:t>Production-ready and configurable</a:t>
            </a:r>
          </a:p>
          <a:p>
            <a:pPr marL="0" indent="0">
              <a:buNone/>
            </a:pPr>
            <a:r>
              <a:rPr lang="en-US" sz="1500" dirty="0">
                <a:solidFill>
                  <a:srgbClr val="EAF4FB"/>
                </a:solidFill>
                <a:latin typeface="Calibri"/>
              </a:rPr>
              <a:t>Flexible deployment options and a clean set of user-side configuration controls.</a:t>
            </a:r>
          </a:p>
        </p:txBody>
      </p:sp>
    </p:spTree>
    <p:extLst>
      <p:ext uri="{BB962C8B-B14F-4D97-AF65-F5344CB8AC3E}">
        <p14:creationId xmlns:p14="http://schemas.microsoft.com/office/powerpoint/2010/main" val="28082712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2E4FB-A056-B99C-542E-6AE3AB85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1016000"/>
          </a:xfrm>
        </p:spPr>
        <p:txBody>
          <a:bodyPr/>
          <a:lstStyle/>
          <a:p>
            <a:pPr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/>
              </a:rPr>
              <a:t>Project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11AD1-BE98-84B9-9876-E212E3E7C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032000"/>
            <a:ext cx="10668000" cy="4572000"/>
          </a:xfrm>
        </p:spPr>
        <p:txBody>
          <a:bodyPr/>
          <a:lstStyle/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Georgia"/>
              </a:rPr>
              <a:t>Codebase needs further refactoring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EAF4FB"/>
                </a:solidFill>
                <a:latin typeface="Calibri"/>
              </a:rPr>
              <a:t>Some modules grew organically and would benefit from a more disciplined cleanup pass.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Georgia"/>
              </a:rPr>
              <a:t>Agent system requires more testing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EAF4FB"/>
                </a:solidFill>
                <a:latin typeface="Calibri"/>
              </a:rPr>
              <a:t>Reliability under edge-case prompts and adversarial inputs is not yet fully proven.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60A5FA"/>
                </a:solidFill>
                <a:latin typeface="Georgia"/>
              </a:rPr>
              <a:t>Latency on long agent responses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EAF4FB"/>
                </a:solidFill>
                <a:latin typeface="Calibri"/>
              </a:rPr>
              <a:t>Even with paid APIs, complex multi-step reasoning can be slow for end users.</a:t>
            </a:r>
          </a:p>
        </p:txBody>
      </p:sp>
    </p:spTree>
    <p:extLst>
      <p:ext uri="{BB962C8B-B14F-4D97-AF65-F5344CB8AC3E}">
        <p14:creationId xmlns:p14="http://schemas.microsoft.com/office/powerpoint/2010/main" val="36357809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D40FC-C817-CADF-5A85-7A57D25AA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35000"/>
            <a:ext cx="10668000" cy="1016000"/>
          </a:xfrm>
        </p:spPr>
        <p:txBody>
          <a:bodyPr/>
          <a:lstStyle/>
          <a:p>
            <a:pPr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/>
              </a:rPr>
              <a:t>Future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0FAF-689D-E63E-B514-03958DB59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968500"/>
            <a:ext cx="10668000" cy="4635500"/>
          </a:xfrm>
        </p:spPr>
        <p:txBody>
          <a:bodyPr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/>
              </a:rPr>
              <a:t>01  </a:t>
            </a:r>
            <a:r>
              <a:rPr lang="en-US" sz="1700" b="1" dirty="0">
                <a:solidFill>
                  <a:srgbClr val="FFFFFF"/>
                </a:solidFill>
                <a:latin typeface="Georgia"/>
              </a:rPr>
              <a:t>Stabilization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4FB"/>
                </a:solidFill>
                <a:latin typeface="Calibri"/>
              </a:rPr>
              <a:t>Fix outstanding bugs and harden core platform components.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/>
              </a:rPr>
              <a:t>02  </a:t>
            </a:r>
            <a:r>
              <a:rPr lang="en-US" sz="1700" b="1" dirty="0">
                <a:solidFill>
                  <a:srgbClr val="FFFFFF"/>
                </a:solidFill>
                <a:latin typeface="Georgia"/>
              </a:rPr>
              <a:t>Agent reliability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4FB"/>
                </a:solidFill>
                <a:latin typeface="Calibri"/>
              </a:rPr>
              <a:t>Improve agentic logic and the backend that supports it; reduce the probability of unexpected behaviour.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/>
              </a:rPr>
              <a:t>03  </a:t>
            </a:r>
            <a:r>
              <a:rPr lang="en-US" sz="1700" b="1" dirty="0">
                <a:solidFill>
                  <a:srgbClr val="FFFFFF"/>
                </a:solidFill>
                <a:latin typeface="Georgia"/>
              </a:rPr>
              <a:t>Comprehensive agent testing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4FB"/>
                </a:solidFill>
                <a:latin typeface="Calibri"/>
              </a:rPr>
              <a:t>Build a structured test suite covering complex multi-step prompts and edge cases.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/>
              </a:rPr>
              <a:t>04  </a:t>
            </a:r>
            <a:r>
              <a:rPr lang="en-US" sz="1700" b="1" dirty="0">
                <a:solidFill>
                  <a:srgbClr val="FFFFFF"/>
                </a:solidFill>
                <a:latin typeface="Georgia"/>
              </a:rPr>
              <a:t>AI-generated PDF reports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4FB"/>
                </a:solidFill>
                <a:latin typeface="Calibri"/>
              </a:rPr>
              <a:t>Add a feature that produces fully-formatted, citation-rich PDF reports written by the LLM.</a:t>
            </a:r>
          </a:p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Georgia"/>
              </a:rPr>
              <a:t>05  </a:t>
            </a:r>
            <a:r>
              <a:rPr lang="en-US" sz="1700" b="1" dirty="0">
                <a:solidFill>
                  <a:srgbClr val="FFFFFF"/>
                </a:solidFill>
                <a:latin typeface="Georgia"/>
              </a:rPr>
              <a:t>User accounts and personalization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EAF4FB"/>
                </a:solidFill>
                <a:latin typeface="Calibri"/>
              </a:rPr>
              <a:t>Saved dashboards, watchlists and shareable research workspaces.</a:t>
            </a:r>
          </a:p>
        </p:txBody>
      </p:sp>
    </p:spTree>
    <p:extLst>
      <p:ext uri="{BB962C8B-B14F-4D97-AF65-F5344CB8AC3E}">
        <p14:creationId xmlns:p14="http://schemas.microsoft.com/office/powerpoint/2010/main" val="818935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FD905-010E-20EF-2EEC-31C698741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286000"/>
            <a:ext cx="10668000" cy="1651000"/>
          </a:xfrm>
        </p:spPr>
        <p:txBody>
          <a:bodyPr/>
          <a:lstStyle/>
          <a:p>
            <a:pPr algn="ctr">
              <a:buNone/>
            </a:pPr>
            <a:r>
              <a:rPr lang="en-US" sz="9600" b="1" dirty="0">
                <a:solidFill>
                  <a:srgbClr val="FFFFFF"/>
                </a:solidFill>
                <a:latin typeface="Georgia"/>
              </a:rPr>
              <a:t>Q  </a:t>
            </a:r>
            <a:r>
              <a:rPr lang="en-US" sz="9600" b="1" dirty="0">
                <a:solidFill>
                  <a:srgbClr val="22D3EE"/>
                </a:solidFill>
                <a:latin typeface="Georgia"/>
              </a:rPr>
              <a:t>&amp;</a:t>
            </a:r>
            <a:r>
              <a:rPr lang="en-US" sz="9600" b="1" dirty="0">
                <a:solidFill>
                  <a:srgbClr val="FFFFFF"/>
                </a:solidFill>
                <a:latin typeface="Georgia"/>
              </a:rPr>
              <a:t> 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8FA89-E327-A72B-D483-83BA4FF18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4572000"/>
            <a:ext cx="10668000" cy="762000"/>
          </a:xfrm>
        </p:spPr>
        <p:txBody>
          <a:bodyPr/>
          <a:lstStyle/>
          <a:p>
            <a:pPr algn="ctr">
              <a:buNone/>
            </a:pPr>
            <a:r>
              <a:rPr lang="en-US" sz="2200" dirty="0">
                <a:solidFill>
                  <a:srgbClr val="EAF4FB"/>
                </a:solidFill>
                <a:latin typeface="Calibri"/>
              </a:rPr>
              <a:t>Feel free to ask any questions</a:t>
            </a:r>
          </a:p>
        </p:txBody>
      </p:sp>
    </p:spTree>
    <p:extLst>
      <p:ext uri="{BB962C8B-B14F-4D97-AF65-F5344CB8AC3E}">
        <p14:creationId xmlns:p14="http://schemas.microsoft.com/office/powerpoint/2010/main" val="22676401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EFD86-2BF9-DF03-84AC-25CE0319D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540000"/>
            <a:ext cx="10668000" cy="1651000"/>
          </a:xfrm>
        </p:spPr>
        <p:txBody>
          <a:bodyPr/>
          <a:lstStyle/>
          <a:p>
            <a:pPr algn="ctr">
              <a:buNone/>
            </a:pPr>
            <a:r>
              <a:rPr lang="en-US" sz="7200" b="1" dirty="0">
                <a:solidFill>
                  <a:srgbClr val="FFFFFF"/>
                </a:solidFill>
                <a:latin typeface="Georgia"/>
              </a:rPr>
              <a:t>Thank you.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0B73D-0696-D698-79D0-1E083341A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4445000"/>
            <a:ext cx="10668000" cy="1016000"/>
          </a:xfrm>
        </p:spPr>
        <p:txBody>
          <a:bodyPr/>
          <a:lstStyle/>
          <a:p>
            <a:pPr algn="ctr">
              <a:buNone/>
            </a:pPr>
            <a:r>
              <a:rPr lang="en-US" sz="2000" dirty="0">
                <a:solidFill>
                  <a:srgbClr val="22D3EE"/>
                </a:solidFill>
                <a:latin typeface="Calibri"/>
              </a:rPr>
              <a:t>Ultimate Macroeconomics Dashboard</a:t>
            </a:r>
          </a:p>
          <a:p>
            <a:pPr algn="ctr">
              <a:buNone/>
            </a:pPr>
            <a:r>
              <a:rPr lang="en-US" sz="1500" dirty="0">
                <a:solidFill>
                  <a:srgbClr val="93C5FD"/>
                </a:solidFill>
                <a:latin typeface="Calibri"/>
              </a:rPr>
              <a:t>An AI-powered research platform for modern economic analysis</a:t>
            </a:r>
          </a:p>
        </p:txBody>
      </p:sp>
    </p:spTree>
    <p:extLst>
      <p:ext uri="{BB962C8B-B14F-4D97-AF65-F5344CB8AC3E}">
        <p14:creationId xmlns:p14="http://schemas.microsoft.com/office/powerpoint/2010/main" val="3291052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7723219747]">
  <a:themeElements>
    <a:clrScheme name="Office">
      <a:dk1>
        <a:srgbClr val="0A1F3D"/>
      </a:dk1>
      <a:lt1>
        <a:srgbClr val="FFFFFF"/>
      </a:lt1>
      <a:dk2>
        <a:srgbClr val="EAF4FB"/>
      </a:dk2>
      <a:lt2>
        <a:srgbClr val="0E2A4F"/>
      </a:lt2>
      <a:accent1>
        <a:srgbClr val="22D3EE"/>
      </a:accent1>
      <a:accent2>
        <a:srgbClr val="60A5FA"/>
      </a:accent2>
      <a:accent3>
        <a:srgbClr val="3B82F6"/>
      </a:accent3>
      <a:accent4>
        <a:srgbClr val="93C5FD"/>
      </a:accent4>
      <a:accent5>
        <a:srgbClr val="1E3A8A"/>
      </a:accent5>
      <a:accent6>
        <a:srgbClr val="F8FAFC"/>
      </a:accent6>
      <a:hlink>
        <a:srgbClr val="0563C1"/>
      </a:hlink>
      <a:folHlink>
        <a:srgbClr val="954F72"/>
      </a:folHlink>
    </a:clrScheme>
    <a:fontScheme name="Office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34FD17B-6392-4210-9C74-E57D737E727C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e3e7c9fc-9ea2-495e-91d4-22164dfcfdb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910</Words>
  <Application>Microsoft Office PowerPoint</Application>
  <PresentationFormat>Widescreen</PresentationFormat>
  <Paragraphs>125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Georgia</vt:lpstr>
      <vt:lpstr>Office Theme [1777723219747]</vt:lpstr>
      <vt:lpstr>Ultimate Macroeconomics Dashboard</vt:lpstr>
      <vt:lpstr>Agenda</vt:lpstr>
      <vt:lpstr>The Problem</vt:lpstr>
      <vt:lpstr>Project Goal</vt:lpstr>
      <vt:lpstr>Target Audience</vt:lpstr>
      <vt:lpstr>Data Sources</vt:lpstr>
      <vt:lpstr>Data Sources  /  World Bank</vt:lpstr>
      <vt:lpstr>Data Sources  /  Webz.io News</vt:lpstr>
      <vt:lpstr>Data Sources  /  Yahoo Finance</vt:lpstr>
      <vt:lpstr>Technical Solutions</vt:lpstr>
      <vt:lpstr>Technical Solutions  /  Agentic Trade-offs</vt:lpstr>
      <vt:lpstr>Architecture  /  System Diagram</vt:lpstr>
      <vt:lpstr>Architecture  /  Documented APIs</vt:lpstr>
      <vt:lpstr>Architecture  /  Technical Stack</vt:lpstr>
      <vt:lpstr>Architecture  /  AI &amp; Data Layer</vt:lpstr>
      <vt:lpstr>Architecture  /  AI Agent Diagram</vt:lpstr>
      <vt:lpstr>Core Functionality  /  World Bank Data</vt:lpstr>
      <vt:lpstr>Core Functionality  /  Yahoo Finance</vt:lpstr>
      <vt:lpstr>Core Functionality  /  News &amp; RAG</vt:lpstr>
      <vt:lpstr>Core Functionality  /  Clustering</vt:lpstr>
      <vt:lpstr>Core Functionality  /  Chatting &amp; Tables</vt:lpstr>
      <vt:lpstr>Core Functionality  /  Retrieval-Augmented Generation</vt:lpstr>
      <vt:lpstr>Core Functionality  /  Plots</vt:lpstr>
      <vt:lpstr>AI Tools Used in Development</vt:lpstr>
      <vt:lpstr>Project Advantages</vt:lpstr>
      <vt:lpstr>Project Limitations</vt:lpstr>
      <vt:lpstr>Future Development</vt:lpstr>
      <vt:lpstr>Q  &amp;  A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Kaa</dc:creator>
  <cp:lastModifiedBy>Alex Kaa</cp:lastModifiedBy>
  <cp:revision>85</cp:revision>
  <dcterms:created xsi:type="dcterms:W3CDTF">2026-05-02T09:05:57Z</dcterms:created>
  <dcterms:modified xsi:type="dcterms:W3CDTF">2026-07-12T16:14:11Z</dcterms:modified>
</cp:coreProperties>
</file>